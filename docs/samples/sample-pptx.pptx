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2247"/>
              </a:gs>
              <a:gs pos="100000">
                <a:srgbClr val="2844C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rstsourc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1737360" cy="689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Franklin Gothic Medium"/>
              </a:rPr>
              <a:t>Acme Bank Analyst RFI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23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Franklin Gothic Medium"/>
              </a:rPr>
              <a:t>Firstsource response covering liability, model strategy and innovation footprint.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CB1DB"/>
                </a:solidFill>
                <a:latin typeface="Franklin Gothic Medium"/>
              </a:rPr>
              <a:t>2 source documents   |   3 questions answered   |   We make it happen!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247"/>
                </a:solidFill>
                <a:latin typeface="Franklin Gothic Medium"/>
              </a:rPr>
              <a:t>Headline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38100"/>
          </a:xfrm>
          <a:prstGeom prst="rect">
            <a:avLst/>
          </a:prstGeom>
          <a:solidFill>
            <a:srgbClr val="6CB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stsource-logo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11480"/>
            <a:ext cx="1463040" cy="580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0A8"/>
                </a:solidFill>
                <a:latin typeface="Franklin Gothic Medium"/>
              </a:rPr>
              <a:t>Copyright © 2026 Firstsource. All rights reserved.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2606040" cy="1417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63500" cy="1417320"/>
          </a:xfrm>
          <a:prstGeom prst="rect">
            <a:avLst/>
          </a:prstGeom>
          <a:solidFill>
            <a:srgbClr val="DF6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DF6014"/>
                </a:solidFill>
                <a:latin typeface="Franklin Gothic Medium"/>
              </a:rPr>
              <a:t>32-38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384F"/>
                </a:solidFill>
                <a:latin typeface="Franklin Gothic Medium"/>
              </a:rPr>
              <a:t>GENAI ENGAGEMENTS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37360"/>
            <a:ext cx="2606040" cy="1417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737360"/>
            <a:ext cx="63500" cy="1417320"/>
          </a:xfrm>
          <a:prstGeom prst="rect">
            <a:avLst/>
          </a:prstGeom>
          <a:solidFill>
            <a:srgbClr val="28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019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E2247"/>
                </a:solidFill>
                <a:latin typeface="Franklin Gothic Medium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514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384F"/>
                </a:solidFill>
                <a:latin typeface="Franklin Gothic Medium"/>
              </a:rPr>
              <a:t>INNOVATION LABS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2606040" cy="1417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737360"/>
            <a:ext cx="63500" cy="1417320"/>
          </a:xfrm>
          <a:prstGeom prst="rect">
            <a:avLst/>
          </a:prstGeom>
          <a:solidFill>
            <a:srgbClr val="DF6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9019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DF6014"/>
                </a:solidFill>
                <a:latin typeface="Franklin Gothic Medium"/>
              </a:rPr>
              <a:t>&gt;99%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514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384F"/>
                </a:solidFill>
                <a:latin typeface="Franklin Gothic Medium"/>
              </a:rPr>
              <a:t>COMPLIANCE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737360"/>
            <a:ext cx="2606040" cy="1417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63500" cy="1417320"/>
          </a:xfrm>
          <a:prstGeom prst="rect">
            <a:avLst/>
          </a:prstGeom>
          <a:solidFill>
            <a:srgbClr val="28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9019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E2247"/>
                </a:solidFill>
                <a:latin typeface="Franklin Gothic Medium"/>
              </a:rPr>
              <a:t>25+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514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384F"/>
                </a:solidFill>
                <a:latin typeface="Franklin Gothic Medium"/>
              </a:rPr>
              <a:t>YEARS DOMAIN DEPTH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247"/>
                </a:solidFill>
                <a:latin typeface="Franklin Gothic Medium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38100"/>
          </a:xfrm>
          <a:prstGeom prst="rect">
            <a:avLst/>
          </a:prstGeom>
          <a:solidFill>
            <a:srgbClr val="6CB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stsource-logo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11480"/>
            <a:ext cx="1463040" cy="580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0A8"/>
                </a:solidFill>
                <a:latin typeface="Franklin Gothic Medium"/>
              </a:rPr>
              <a:t>Copyright © 2026 Firstsource.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Three questions answered across two source documents.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Kairos delivers Intelligence that Operates.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Governed Autonomy throughout.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Key takeaway: Outcome accountability is underwritten.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247"/>
                </a:solidFill>
                <a:latin typeface="Franklin Gothic Medium"/>
              </a:rPr>
              <a:t>Responses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38100"/>
          </a:xfrm>
          <a:prstGeom prst="rect">
            <a:avLst/>
          </a:prstGeom>
          <a:solidFill>
            <a:srgbClr val="6CB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stsource-logo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11480"/>
            <a:ext cx="1463040" cy="580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0A8"/>
                </a:solidFill>
                <a:latin typeface="Franklin Gothic Medium"/>
              </a:rPr>
              <a:t>Copyright © 2026 Firstsource.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Answers preserve the client's original numbering.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247"/>
                </a:solidFill>
                <a:latin typeface="Franklin Gothic Medium"/>
              </a:rPr>
              <a:t>Responses - responses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38100"/>
          </a:xfrm>
          <a:prstGeom prst="rect">
            <a:avLst/>
          </a:prstGeom>
          <a:solidFill>
            <a:srgbClr val="6CB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stsource-logo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11480"/>
            <a:ext cx="1463040" cy="580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0A8"/>
                </a:solidFill>
                <a:latin typeface="Franklin Gothic Medium"/>
              </a:rPr>
              <a:t>Copyright © 2026 Firstsource.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1E2247"/>
                </a:solidFill>
                <a:latin typeface="Franklin Gothic Medium"/>
              </a:rPr>
              <a:t>Q1  Describe your liability and indemnification model.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33384F"/>
                </a:solidFill>
                <a:latin typeface="Franklin Gothic Medium"/>
              </a:rPr>
              <a:t>Liability is capped at 12 months of service fees, direct damages only.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33384F"/>
                </a:solidFill>
                <a:latin typeface="Franklin Gothic Medium"/>
              </a:rPr>
              <a:t>Firstsource carries E&amp;O and cyber-liability insurance.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E2247"/>
                </a:solidFill>
                <a:latin typeface="Franklin Gothic Medium"/>
              </a:rPr>
              <a:t>Q7  Do you build foundational models?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33384F"/>
                </a:solidFill>
                <a:latin typeface="Franklin Gothic Medium"/>
              </a:rPr>
              <a:t>Firstsource does not build foundational LLMs. It builds domain-specific models.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1E2247"/>
                </a:solidFill>
                <a:latin typeface="Franklin Gothic Medium"/>
              </a:rPr>
              <a:t>3.2(a)  What is your innovation lab footprint?</a:t>
            </a:r>
          </a:p>
          <a:p>
            <a:pPr>
              <a:lnSpc>
                <a:spcPct val="120000"/>
              </a:lnSpc>
            </a:pPr>
            <a:r>
              <a:rPr sz="1150">
                <a:solidFill>
                  <a:srgbClr val="33384F"/>
                </a:solidFill>
                <a:latin typeface="Franklin Gothic Medium"/>
              </a:rPr>
              <a:t>Eight labs and 95 FTE, with 12+ proprietary solutions in the past 12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247"/>
                </a:solidFill>
                <a:latin typeface="Franklin Gothic Medium"/>
              </a:rPr>
              <a:t>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38100"/>
          </a:xfrm>
          <a:prstGeom prst="rect">
            <a:avLst/>
          </a:prstGeom>
          <a:solidFill>
            <a:srgbClr val="6CB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stsource-logo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11480"/>
            <a:ext cx="1463040" cy="580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0A8"/>
                </a:solidFill>
                <a:latin typeface="Franklin Gothic Medium"/>
              </a:rPr>
              <a:t>Copyright © 2026 Firstsource.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Portfolio detail.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Area | Detail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Generative AI | 32-38 engagements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Agentic AI | 16-22 engagements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247"/>
                </a:solidFill>
                <a:latin typeface="Franklin Gothic Medium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05840" cy="38100"/>
          </a:xfrm>
          <a:prstGeom prst="rect">
            <a:avLst/>
          </a:prstGeom>
          <a:solidFill>
            <a:srgbClr val="6CB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stsource-logo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411480"/>
            <a:ext cx="1463040" cy="580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0A8"/>
                </a:solidFill>
                <a:latin typeface="Franklin Gothic Medium"/>
              </a:rPr>
              <a:t>Copyright © 2026 Firstsource.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What each uploaded document contributed.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ClientRFI.docx - supplied the questions.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33384F"/>
                </a:solidFill>
                <a:latin typeface="Franklin Gothic Medium"/>
              </a:rPr>
              <a:t>▪  Capabilities.pptx - supporting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